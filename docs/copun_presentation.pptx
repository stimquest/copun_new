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23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FFFFFF"/>
                </a:solidFill>
                <a:latin typeface="Arial"/>
              </a:defRPr>
            </a:pPr>
            <a:r>
              <a:t>COP'UN</a:t>
            </a:r>
          </a:p>
          <a:p>
            <a:pPr>
              <a:spcBef>
                <a:spcPts val="1000"/>
              </a:spcBef>
              <a:defRPr sz="2800">
                <a:solidFill>
                  <a:srgbClr val="0099FF"/>
                </a:solidFill>
                <a:latin typeface="Arial"/>
              </a:defRPr>
            </a:pPr>
            <a:r>
              <a:t>Document de méthode</a:t>
            </a:r>
          </a:p>
          <a:p>
            <a:pPr>
              <a:spcBef>
                <a:spcPts val="2000"/>
              </a:spcBef>
              <a:defRPr sz="1600" i="1">
                <a:solidFill>
                  <a:srgbClr val="C8C8C8"/>
                </a:solidFill>
                <a:latin typeface="Arial"/>
              </a:defRPr>
            </a:pPr>
            <a:r>
              <a:t>Version 0.1 — Club Nautique de Coutainville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C2340"/>
                </a:solidFill>
                <a:latin typeface="Arial"/>
              </a:defRPr>
            </a:pPr>
            <a:r>
              <a:t>1. Le problème que COP'UN résout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3C3C3C"/>
                </a:solidFill>
                <a:latin typeface="Arial"/>
              </a:defRPr>
            </a:pPr>
            <a:r>
              <a:t>Dans les sports de plein air, l'environnement naturel n'est pas un décor. C'est le terrain de jeu, le partenaire, parfois l'adversaire.</a:t>
            </a:r>
          </a:p>
          <a:p>
            <a:pPr>
              <a:spcBef>
                <a:spcPts val="600"/>
              </a:spcBef>
            </a:pPr>
            <a:r>
              <a:rPr sz="1400">
                <a:latin typeface="Arial"/>
              </a:rPr>
              <a:t>Les encadrants sont formés à la technique sportive, mais manquent de formation spécifique pour transmettre la culture environnementale.</a:t>
            </a:r>
          </a:p>
          <a:p>
            <a:pPr>
              <a:spcBef>
                <a:spcPts val="600"/>
              </a:spcBef>
            </a:pPr>
            <a:r>
              <a:rPr sz="1400">
                <a:latin typeface="Arial"/>
              </a:rPr>
              <a:t>L'abondance de ressources crée un obstacle : face à la masse, l'encadrant improvise, effleure ou évite.</a:t>
            </a:r>
          </a:p>
          <a:p>
            <a:pPr>
              <a:spcBef>
                <a:spcPts val="600"/>
              </a:spcBef>
            </a:pPr>
            <a:r>
              <a:rPr sz="1400">
                <a:latin typeface="Arial"/>
              </a:rPr>
              <a:t>COP'UN répond à ce besoin avec une méthode (un cadre d'action) plutôt que du contenu supplémentaire.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C2340"/>
                </a:solidFill>
                <a:latin typeface="Arial"/>
              </a:defRPr>
            </a:pPr>
            <a:r>
              <a:t>2. Le principe fondateur : C-O-P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0066CC"/>
                </a:solidFill>
                <a:latin typeface="Arial"/>
              </a:defRPr>
            </a:pPr>
            <a:r>
              <a:t>Le rapport à l'environnement ne s'enseigne pas, il se construit.</a:t>
            </a:r>
          </a:p>
          <a:p>
            <a:pPr>
              <a:spcBef>
                <a:spcPts val="600"/>
              </a:spcBef>
            </a:pPr>
            <a:r>
              <a:rPr b="1" sz="1500">
                <a:latin typeface="Arial"/>
              </a:rPr>
              <a:t>COMPRENDRE — </a:t>
            </a:r>
            <a:r>
              <a:rPr b="0" sz="1500">
                <a:latin typeface="Arial"/>
              </a:rPr>
              <a:t> Saisir les mécanismes du lieu (pertinents pour la pratique et le groupe).</a:t>
            </a:r>
          </a:p>
          <a:p>
            <a:pPr>
              <a:spcBef>
                <a:spcPts val="600"/>
              </a:spcBef>
            </a:pPr>
            <a:r>
              <a:rPr b="1" sz="1500">
                <a:latin typeface="Arial"/>
              </a:rPr>
              <a:t>OBSERVER — </a:t>
            </a:r>
            <a:r>
              <a:rPr b="0" sz="1500">
                <a:latin typeface="Arial"/>
              </a:rPr>
              <a:t> Mobiliser ses sens dans l'espace (regarder, écouter, ressentir, attention active).</a:t>
            </a:r>
          </a:p>
          <a:p>
            <a:pPr>
              <a:spcBef>
                <a:spcPts val="600"/>
              </a:spcBef>
            </a:pPr>
            <a:r>
              <a:rPr b="1" sz="1500">
                <a:latin typeface="Arial"/>
              </a:rPr>
              <a:t>PROTÉGER — </a:t>
            </a:r>
            <a:r>
              <a:rPr b="0" sz="1500">
                <a:latin typeface="Arial"/>
              </a:rPr>
              <a:t> Agir en conséquence (adapter ses choix, comportements et transmissions).</a:t>
            </a:r>
          </a:p>
          <a:p>
            <a:pPr>
              <a:spcBef>
                <a:spcPts val="1600"/>
              </a:spcBef>
            </a:pPr>
            <a:r>
              <a:rPr i="1" sz="1400">
                <a:solidFill>
                  <a:srgbClr val="646464"/>
                </a:solidFill>
                <a:latin typeface="Arial"/>
              </a:rPr>
              <a:t>Cercle vertueux : Comprendre amène à observer, observer amène à protéger, protéger renforce l'envie de comprendre.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C2340"/>
                </a:solidFill>
                <a:latin typeface="Arial"/>
              </a:defRPr>
            </a:pPr>
            <a:r>
              <a:t>3. Les quatre principes de la méthode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066CC"/>
                </a:solidFill>
                <a:latin typeface="Arial"/>
              </a:defRPr>
            </a:pPr>
            <a:r>
              <a:t>Principe 1 — Partir du terrain, pas du programme</a:t>
            </a:r>
          </a:p>
          <a:p>
            <a:pPr>
              <a:spcBef>
                <a:spcPts val="600"/>
              </a:spcBef>
            </a:pPr>
            <a:r>
              <a:rPr sz="1400">
                <a:latin typeface="Arial"/>
              </a:rPr>
              <a:t>Pas de contenu universel imposé. La méthode guide le choix selon le territoire, le groupe et l'encadrant.</a:t>
            </a:r>
          </a:p>
          <a:p>
            <a:pPr>
              <a:spcBef>
                <a:spcPts val="2000"/>
              </a:spcBef>
              <a:defRPr b="1" sz="1600">
                <a:solidFill>
                  <a:srgbClr val="0066CC"/>
                </a:solidFill>
                <a:latin typeface="Arial"/>
              </a:defRPr>
            </a:pPr>
            <a:r>
              <a:t>Principe 2 — L'encadrant apprend avant de transmettre</a:t>
            </a:r>
          </a:p>
          <a:p>
            <a:pPr>
              <a:spcBef>
                <a:spcPts val="600"/>
              </a:spcBef>
            </a:pPr>
            <a:r>
              <a:rPr sz="1400">
                <a:latin typeface="Arial"/>
              </a:rPr>
              <a:t>L'encadrant vérifie ses propres connaissances avant d'enseigner. COP'UN en fait un apprenant permanent.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C2340"/>
                </a:solidFill>
                <a:latin typeface="Arial"/>
              </a:defRPr>
            </a:pPr>
            <a:r>
              <a:t>3. Les quatre principes de la méthode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066CC"/>
                </a:solidFill>
                <a:latin typeface="Arial"/>
              </a:defRPr>
            </a:pPr>
            <a:r>
              <a:t>Principe 3 — Le savoir vit dans la pratique</a:t>
            </a:r>
          </a:p>
          <a:p>
            <a:pPr>
              <a:spcBef>
                <a:spcPts val="600"/>
              </a:spcBef>
            </a:pPr>
            <a:r>
              <a:rPr sz="1400">
                <a:latin typeface="Arial"/>
              </a:rPr>
              <a:t>Les contenus s'intègrent directement sur le terrain pendant la pratique (au vent, face à la falaise), pas en salle.</a:t>
            </a:r>
          </a:p>
          <a:p>
            <a:pPr>
              <a:spcBef>
                <a:spcPts val="1600"/>
              </a:spcBef>
              <a:defRPr b="1" sz="1600">
                <a:solidFill>
                  <a:srgbClr val="0066CC"/>
                </a:solidFill>
                <a:latin typeface="Arial"/>
              </a:defRPr>
            </a:pPr>
            <a:r>
              <a:t>Principe 4 — Progresser par niveaux, pas par matières</a:t>
            </a:r>
          </a:p>
          <a:p>
            <a:pPr>
              <a:spcBef>
                <a:spcPts val="600"/>
              </a:spcBef>
            </a:pPr>
            <a:r>
              <a:rPr b="1" sz="1400">
                <a:latin typeface="Arial"/>
              </a:rPr>
              <a:t>Niveau 1 : </a:t>
            </a:r>
            <a:r>
              <a:rPr b="0" sz="1400">
                <a:latin typeface="Arial"/>
              </a:rPr>
              <a:t> Découverte (Je prends conscience : je remarque, je m'étonne)</a:t>
            </a:r>
          </a:p>
          <a:p>
            <a:pPr>
              <a:spcBef>
                <a:spcPts val="600"/>
              </a:spcBef>
            </a:pPr>
            <a:r>
              <a:rPr b="1" sz="1400">
                <a:latin typeface="Arial"/>
              </a:rPr>
              <a:t>Niveau 2 : </a:t>
            </a:r>
            <a:r>
              <a:rPr b="0" sz="1400">
                <a:latin typeface="Arial"/>
              </a:rPr>
              <a:t> Conscience (J'agis en conscience : j'adapte mon comportement)</a:t>
            </a:r>
          </a:p>
          <a:p>
            <a:pPr>
              <a:spcBef>
                <a:spcPts val="600"/>
              </a:spcBef>
            </a:pPr>
            <a:r>
              <a:rPr b="1" sz="1400">
                <a:latin typeface="Arial"/>
              </a:rPr>
              <a:t>Niveau 3 : </a:t>
            </a:r>
            <a:r>
              <a:rPr b="0" sz="1400">
                <a:latin typeface="Arial"/>
              </a:rPr>
              <a:t> Responsabilité (J'anticipe : je transmets à mon tour)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C2340"/>
                </a:solidFill>
                <a:latin typeface="Arial"/>
              </a:defRPr>
            </a:pPr>
            <a:r>
              <a:t>4. La mécanique d'application (Étapes 1 &amp;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066CC"/>
                </a:solidFill>
                <a:latin typeface="Arial"/>
              </a:defRPr>
            </a:pPr>
            <a:r>
              <a:t>Étape 1 — Définir son intention pédagogique</a:t>
            </a:r>
          </a:p>
          <a:p>
            <a:pPr>
              <a:spcBef>
                <a:spcPts val="600"/>
              </a:spcBef>
            </a:pPr>
            <a:r>
              <a:rPr sz="1400">
                <a:latin typeface="Arial"/>
              </a:rPr>
              <a:t>Définir ce que le stagiaire doit savoir ou ressentir à la fin qu'il ne savait/ressentait pas au début. Traduire en questions C-O-P.</a:t>
            </a:r>
          </a:p>
          <a:p>
            <a:pPr>
              <a:spcBef>
                <a:spcPts val="2000"/>
              </a:spcBef>
              <a:defRPr b="1" sz="1600">
                <a:solidFill>
                  <a:srgbClr val="0066CC"/>
                </a:solidFill>
                <a:latin typeface="Arial"/>
              </a:defRPr>
            </a:pPr>
            <a:r>
              <a:t>Étape 2 — Filtrer pour prioriser</a:t>
            </a:r>
          </a:p>
          <a:p>
            <a:pPr>
              <a:spcBef>
                <a:spcPts val="600"/>
              </a:spcBef>
            </a:pPr>
            <a:r>
              <a:rPr sz="1400">
                <a:latin typeface="Arial"/>
              </a:rPr>
              <a:t>Sélectionner dans la masse de contenus par dimension C-O-P, par niveau d'implication et par thème territorial.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C2340"/>
                </a:solidFill>
                <a:latin typeface="Arial"/>
              </a:defRPr>
            </a:pPr>
            <a:r>
              <a:t>4. La mécanique d'application (Étapes 3 &amp; 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066CC"/>
                </a:solidFill>
                <a:latin typeface="Arial"/>
              </a:defRPr>
            </a:pPr>
            <a:r>
              <a:t>Étape 3 — Intégrer dans la pratique</a:t>
            </a:r>
          </a:p>
          <a:p>
            <a:pPr>
              <a:spcBef>
                <a:spcPts val="600"/>
              </a:spcBef>
            </a:pPr>
            <a:r>
              <a:rPr sz="1400">
                <a:latin typeface="Arial"/>
              </a:rPr>
              <a:t>Utiliser trois types d'activités sur le terrain :</a:t>
            </a:r>
          </a:p>
          <a:p>
            <a:pPr>
              <a:spcBef>
                <a:spcPts val="600"/>
              </a:spcBef>
            </a:pPr>
            <a:r>
              <a:rPr sz="1400">
                <a:latin typeface="Arial"/>
              </a:rPr>
              <a:t>Questions posées au bon moment, dans le bon contexte.</a:t>
            </a:r>
          </a:p>
          <a:p>
            <a:pPr>
              <a:spcBef>
                <a:spcPts val="600"/>
              </a:spcBef>
            </a:pPr>
            <a:r>
              <a:rPr sz="1400">
                <a:latin typeface="Arial"/>
              </a:rPr>
              <a:t>Défis d'observation ou d'action concrète.</a:t>
            </a:r>
          </a:p>
          <a:p>
            <a:pPr>
              <a:spcBef>
                <a:spcPts val="600"/>
              </a:spcBef>
            </a:pPr>
            <a:r>
              <a:rPr sz="1400">
                <a:latin typeface="Arial"/>
              </a:rPr>
              <a:t>Jeux ludiques pour ancrer les savoirs.</a:t>
            </a:r>
          </a:p>
          <a:p>
            <a:pPr>
              <a:spcBef>
                <a:spcPts val="1600"/>
              </a:spcBef>
              <a:defRPr b="1" sz="1600">
                <a:solidFill>
                  <a:srgbClr val="0066CC"/>
                </a:solidFill>
                <a:latin typeface="Arial"/>
              </a:defRPr>
            </a:pPr>
            <a:r>
              <a:t>Étape 4 — Mesurer et maintenir l'engagement</a:t>
            </a:r>
          </a:p>
          <a:p>
            <a:pPr>
              <a:spcBef>
                <a:spcPts val="600"/>
              </a:spcBef>
            </a:pPr>
            <a:r>
              <a:rPr sz="1400">
                <a:latin typeface="Arial"/>
              </a:rPr>
              <a:t>Suivre la progression pour s'assurer que les intentions pédagogiques sont traitées tout au long du stage.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C2340"/>
                </a:solidFill>
                <a:latin typeface="Arial"/>
              </a:defRPr>
            </a:pPr>
            <a:r>
              <a:t>5. Le vocabulaire COP'UN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i="1" sz="1400">
                <a:latin typeface="Arial"/>
              </a:defRPr>
            </a:pPr>
            <a:r>
              <a:t>Glossaire des termes clés de la méthode :</a:t>
            </a:r>
          </a:p>
          <a:p>
            <a:pPr>
              <a:spcBef>
                <a:spcPts val="600"/>
              </a:spcBef>
            </a:pPr>
            <a:r>
              <a:rPr b="1" sz="1400">
                <a:latin typeface="Arial"/>
              </a:rPr>
              <a:t>Cercle vertueux :</a:t>
            </a:r>
            <a:r>
              <a:rPr b="0" sz="1400">
                <a:latin typeface="Arial"/>
              </a:rPr>
              <a:t> Dynamique d'interdépendance C-O-P.</a:t>
            </a:r>
          </a:p>
          <a:p>
            <a:pPr>
              <a:spcBef>
                <a:spcPts val="600"/>
              </a:spcBef>
            </a:pPr>
            <a:r>
              <a:rPr b="1" sz="1400">
                <a:latin typeface="Arial"/>
              </a:rPr>
              <a:t>Intention pédagogique :</a:t>
            </a:r>
            <a:r>
              <a:rPr b="0" sz="1400">
                <a:latin typeface="Arial"/>
              </a:rPr>
              <a:t> Objectif de savoir ou ressenti fixé par l'encadrant.</a:t>
            </a:r>
          </a:p>
          <a:p>
            <a:pPr>
              <a:spcBef>
                <a:spcPts val="600"/>
              </a:spcBef>
            </a:pPr>
            <a:r>
              <a:rPr b="1" sz="1400">
                <a:latin typeface="Arial"/>
              </a:rPr>
              <a:t>Filtre :</a:t>
            </a:r>
            <a:r>
              <a:rPr b="0" sz="1400">
                <a:latin typeface="Arial"/>
              </a:rPr>
              <a:t> Outil de sélection de questions selon le contexte.</a:t>
            </a:r>
          </a:p>
          <a:p>
            <a:pPr>
              <a:spcBef>
                <a:spcPts val="600"/>
              </a:spcBef>
            </a:pPr>
            <a:r>
              <a:rPr b="1" sz="1400">
                <a:latin typeface="Arial"/>
              </a:rPr>
              <a:t>Défi :</a:t>
            </a:r>
            <a:r>
              <a:rPr b="0" sz="1400">
                <a:latin typeface="Arial"/>
              </a:rPr>
              <a:t> Activité terrain concrète générant une expérience.</a:t>
            </a:r>
          </a:p>
          <a:p>
            <a:pPr>
              <a:spcBef>
                <a:spcPts val="600"/>
              </a:spcBef>
            </a:pPr>
            <a:r>
              <a:rPr b="1" sz="1400">
                <a:latin typeface="Arial"/>
              </a:rPr>
              <a:t>Carnet de bord :</a:t>
            </a:r>
            <a:r>
              <a:rPr b="0" sz="1400">
                <a:latin typeface="Arial"/>
              </a:rPr>
              <a:t> Trace individuelle d'appropriation du stagiaire.</a:t>
            </a:r>
          </a:p>
          <a:p>
            <a:pPr>
              <a:spcBef>
                <a:spcPts val="600"/>
              </a:spcBef>
            </a:pPr>
            <a:r>
              <a:rPr b="1" sz="1400">
                <a:latin typeface="Arial"/>
              </a:rPr>
              <a:t>Niveau d'implication :</a:t>
            </a:r>
            <a:r>
              <a:rPr b="0" sz="1400">
                <a:latin typeface="Arial"/>
              </a:rPr>
              <a:t> Degré de maturité (Découverte / Conscience / Responsabilité).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C2340"/>
                </a:solidFill>
                <a:latin typeface="Arial"/>
              </a:defRPr>
            </a:pPr>
            <a:r>
              <a:t>6 &amp; 7. Limites et Transférabilité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CC0000"/>
                </a:solidFill>
                <a:latin typeface="Arial"/>
              </a:defRPr>
            </a:pPr>
            <a:r>
              <a:t>Ce que COP'UN N'EST PAS</a:t>
            </a:r>
          </a:p>
          <a:p>
            <a:pPr>
              <a:spcBef>
                <a:spcPts val="600"/>
              </a:spcBef>
            </a:pPr>
            <a:r>
              <a:rPr sz="1400">
                <a:latin typeface="Arial"/>
              </a:rPr>
              <a:t>Pas une formation d'écologie, pas un catalogue en plus, pas une contrainte réglementaire, pas réservé à un sport.</a:t>
            </a:r>
          </a:p>
          <a:p>
            <a:pPr>
              <a:spcBef>
                <a:spcPts val="1600"/>
              </a:spcBef>
              <a:defRPr b="1" sz="1600">
                <a:solidFill>
                  <a:srgbClr val="0066CC"/>
                </a:solidFill>
                <a:latin typeface="Arial"/>
              </a:defRPr>
            </a:pPr>
            <a:r>
              <a:t>Transférabilité</a:t>
            </a:r>
          </a:p>
          <a:p>
            <a:pPr>
              <a:spcBef>
                <a:spcPts val="600"/>
              </a:spcBef>
            </a:pPr>
            <a:r>
              <a:rPr sz="1400">
                <a:latin typeface="Arial"/>
              </a:rPr>
              <a:t>Initié dans la voile côtière (Club Nautique de Coutainville).</a:t>
            </a:r>
          </a:p>
          <a:p>
            <a:pPr>
              <a:spcBef>
                <a:spcPts val="600"/>
              </a:spcBef>
            </a:pPr>
            <a:r>
              <a:rPr sz="1400">
                <a:latin typeface="Arial"/>
              </a:rPr>
              <a:t>Transférable à tout sport de plein air (mer, montagne, forêt, rivière). La méthode reste identique, seuls les défis et contenus changent.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